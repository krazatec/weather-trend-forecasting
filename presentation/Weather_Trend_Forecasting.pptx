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011680"/>
            <a:ext cx="6400800" cy="6400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 TREND FORECASTING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F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&amp; Advanced Analytics on Global Weather Data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 •  40+ Visualizations  •  7 ML Models  •  Forecasting  •  Dashboard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Presentation •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852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variability affects agriculture, energy demand, disaster response, and public health. Reliable, data-driven forecasting and pattern detection at a global scale remain challenging due to the volume, noise, and geographic diversity of weather data.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114800"/>
            <a:ext cx="1783080" cy="1737360"/>
          </a:xfrm>
          <a:prstGeom prst="roundRect">
            <a:avLst>
              <a:gd name="adj" fmla="val 4211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42519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461772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countries, multi-variable daily observations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4114800"/>
            <a:ext cx="1783080" cy="1737360"/>
          </a:xfrm>
          <a:prstGeom prst="roundRect">
            <a:avLst>
              <a:gd name="adj" fmla="val 4211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51760" y="42519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51760" y="461772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 duplicates, and sensor outliers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4114800"/>
            <a:ext cx="1783080" cy="1737360"/>
          </a:xfrm>
          <a:prstGeom prst="roundRect">
            <a:avLst>
              <a:gd name="adj" fmla="val 4211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42519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Uncertainty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461772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forecasting under natural variability</a:t>
            </a:r>
            <a:endParaRPr lang="en-US" sz="1100" dirty="0"/>
          </a:p>
        </p:txBody>
      </p:sp>
      <p:pic>
        <p:nvPicPr>
          <p:cNvPr id="14" name="Image 0" descr="/home/claude/Weather-Trend-Forecasting/outputs/figures/world_temperature_map_sta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455476"/>
            <a:ext cx="4937760" cy="2952887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52120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validate a multi-country weather dataset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patterns through 40+ visualizations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domain-relevant predictive features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compare 7 regression models + ensemble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0" y="1920240"/>
            <a:ext cx="52120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short-term trends (ARIMA, SARIMA, Prophet)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clustering, anomaly detection &amp; SHAP explainability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weather geospatially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an interactive Streamlit dashboard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Global Weather Repository (schema-matched sample used in this build — see notes)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3317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12,040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219456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23317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37560" y="3017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Columns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219456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23317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126480" y="3017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15400" y="219456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8915400" y="23317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~200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915400" y="3017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Observed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 Groups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438912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&amp; Comfort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Atmosphere (pressure, humidity, cloud, UV)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(speed, gust, direction)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Precipitation &amp; Conditions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 Indices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Astronomy (sunrise/sunset, moon phase)</a:t>
            </a:r>
            <a:endParaRPr lang="en-US" sz="1350" dirty="0"/>
          </a:p>
        </p:txBody>
      </p:sp>
      <p:pic>
        <p:nvPicPr>
          <p:cNvPr id="19" name="Image 0" descr="/home/claude/Weather-Trend-Forecasting/outputs/figures/dist_temperature_celsi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6681" y="3931920"/>
            <a:ext cx="3760318" cy="25603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Duplicates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injected duplicates detected &amp; dropped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0" y="2167128"/>
            <a:ext cx="182880" cy="0"/>
          </a:xfrm>
          <a:prstGeom prst="line">
            <a:avLst/>
          </a:prstGeom>
          <a:noFill/>
          <a:ln w="19050">
            <a:solidFill>
              <a:srgbClr val="C7D6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1920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37560" y="2560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 Datetime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337560" y="301752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last_updated parsed &amp; validated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89320" y="2167128"/>
            <a:ext cx="182880" cy="0"/>
          </a:xfrm>
          <a:prstGeom prst="line">
            <a:avLst/>
          </a:prstGeom>
          <a:noFill/>
          <a:ln w="19050">
            <a:solidFill>
              <a:srgbClr val="C7D6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920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26480" y="2560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Impute Missing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126480" y="301752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(numeric) / mode (categorical), ~2% missingness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778240" y="2167128"/>
            <a:ext cx="182880" cy="0"/>
          </a:xfrm>
          <a:prstGeom prst="line">
            <a:avLst/>
          </a:prstGeom>
          <a:noFill/>
          <a:ln w="19050">
            <a:solidFill>
              <a:srgbClr val="C7D6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15400" y="1920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891540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915400" y="2560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 Outliers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915400" y="301752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(1.5x) &amp; Z-score (|z|&gt;3) detection, clipped to bounds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57200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5F8FA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7091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checks confirm humidity in [0,100], latitude in [-90,90], longitude in [-180,180], and zero remaining duplicate rows after cleaning.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EXPLORATION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charts generated across distributions, relationships, rankings, and time trends</a:t>
            </a:r>
            <a:endParaRPr lang="en-US" sz="1300" dirty="0"/>
          </a:p>
        </p:txBody>
      </p:sp>
      <p:pic>
        <p:nvPicPr>
          <p:cNvPr id="5" name="Image 0" descr="/home/claude/Weather-Trend-Forecasting/outputs/figures/correlation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198" y="2011680"/>
            <a:ext cx="4785525" cy="4297680"/>
          </a:xfrm>
          <a:prstGeom prst="rect">
            <a:avLst/>
          </a:prstGeom>
        </p:spPr>
      </p:pic>
      <p:pic>
        <p:nvPicPr>
          <p:cNvPr id="6" name="Image 1" descr="/home/claude/Weather-Trend-Forecasting/outputs/figures/ranking_hottest_countri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027645"/>
            <a:ext cx="5669280" cy="426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EXPLORATION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&amp; Relational Patterns</a:t>
            </a:r>
            <a:endParaRPr lang="en-US" sz="3000" dirty="0"/>
          </a:p>
        </p:txBody>
      </p:sp>
      <p:pic>
        <p:nvPicPr>
          <p:cNvPr id="4" name="Image 0" descr="/home/claude/Weather-Trend-Forecasting/outputs/figures/trend_temperature_celsius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2598" y="1920240"/>
            <a:ext cx="4816325" cy="2377440"/>
          </a:xfrm>
          <a:prstGeom prst="rect">
            <a:avLst/>
          </a:prstGeom>
        </p:spPr>
      </p:pic>
      <p:pic>
        <p:nvPicPr>
          <p:cNvPr id="5" name="Image 1" descr="/home/claude/Weather-Trend-Forecasting/outputs/figures/scatter_humidity_vs_temperature_celsi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361" y="4434840"/>
            <a:ext cx="2561517" cy="2011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09360" y="4526280"/>
            <a:ext cx="5394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&amp; temperature: r ≈ -0.47 (moderate negative)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index &amp; temperature: r ≈ 0.83 (strong positive)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speed &amp; gust: r ≈ 0.96 (near-perfect, physically expected)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0312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Calendar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year, month, week, quarter, is_weekend, hemisphere-aware season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9202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210312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Comfort Indices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46520" y="260604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index, wind chill, temp-feels difference, humidity index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425196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Lag &amp; Rolling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4754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1/2/3/7-day lags; 3/7/14-day rolling mean &amp; std, per location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40690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425196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Interactions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46520" y="4754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humidity×temp, wind×pressure, polynomial temperature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MODELING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Models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0312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37560" y="210312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3337560" y="210312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210312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210312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915400" y="210312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915400" y="210312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65760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37560" y="365760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365760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0" y="365760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365760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915400" y="365760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8915400" y="365760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(avg)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5394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temperature_celsius  |  80/20 train-test split  |  Leakage-aware feature matrix (see notes)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4008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920240"/>
                <a:gridCol w="960120"/>
                <a:gridCol w="960120"/>
                <a:gridCol w="960120"/>
                <a:gridCol w="960120"/>
                <a:gridCol w="822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RMSE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MAPE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GradientBoosting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2.041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8.021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2.832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22.728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0.933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LightGBM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2.066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8.050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2.837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23.309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0.933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XGBoost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2.097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8.193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2.862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23.682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0.932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RandomForest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2.091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8.355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2.890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23.475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0.930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LinearRegression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2.091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8.575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2.928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23.190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0.928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DecisionTree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2.411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12.051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3.471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27.216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0.899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SVR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8.395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105.124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10.253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94.035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0.123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/home/claude/Weather-Trend-Forecasting/outputs/figures/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2855691"/>
            <a:ext cx="4480560" cy="242677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Model: Gradient Boosting</a:t>
            </a:r>
            <a:endParaRPr lang="en-US" sz="3000" dirty="0"/>
          </a:p>
        </p:txBody>
      </p:sp>
      <p:pic>
        <p:nvPicPr>
          <p:cNvPr id="4" name="Image 0" descr="/home/claude/Weather-Trend-Forecasting/outputs/figures/pred_vs_actual_GradientBoos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75429"/>
            <a:ext cx="3657600" cy="3678742"/>
          </a:xfrm>
          <a:prstGeom prst="rect">
            <a:avLst/>
          </a:prstGeom>
        </p:spPr>
      </p:pic>
      <p:pic>
        <p:nvPicPr>
          <p:cNvPr id="5" name="Image 1" descr="/home/claude/Weather-Trend-Forecasting/outputs/figures/residuals_GradientBoost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3314320"/>
            <a:ext cx="3657600" cy="1600959"/>
          </a:xfrm>
          <a:prstGeom prst="rect">
            <a:avLst/>
          </a:prstGeom>
        </p:spPr>
      </p:pic>
      <p:pic>
        <p:nvPicPr>
          <p:cNvPr id="6" name="Image 2" descr="/home/claude/Weather-Trend-Forecasting/outputs/figures/shap_summa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952059"/>
            <a:ext cx="3566160" cy="423404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FORECASTING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Time-Series Forecasting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5F8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031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ARIMA(2,1,2)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206240" y="21031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autoregressive-integrated-moving-average baseline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5F8F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5204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SARIMA(1,1,1)(1,1,1,7)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06240" y="352044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weekly seasonality on top of ARIMA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80060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5F8F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9377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Prophet / Fallback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06240" y="493776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trend + seasonality; statsmodels fallback keeps the pipeline dependency-light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ADVANCED ANALYTICS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Unsupervised Learning &amp; Explainability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7607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&amp; LOF flag anomalous readings (2% contamination)</a:t>
            </a:r>
            <a:endParaRPr lang="en-US" sz="15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(k=4) groups observations into weather regimes</a:t>
            </a:r>
            <a:endParaRPr lang="en-US" sz="15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finds density-based clusters without pre-set k</a:t>
            </a:r>
            <a:endParaRPr lang="en-US" sz="15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reduces 4 core variables to 2 components</a:t>
            </a:r>
            <a:endParaRPr lang="en-US" sz="15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 + SHAP explain the best model</a:t>
            </a:r>
            <a:endParaRPr lang="en-US" sz="1550" dirty="0"/>
          </a:p>
        </p:txBody>
      </p:sp>
      <p:pic>
        <p:nvPicPr>
          <p:cNvPr id="5" name="Image 0" descr="/home/claude/Weather-Trend-Forecasting/outputs/figures/feature_importance_RandomFo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2388870"/>
            <a:ext cx="5120640" cy="33604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ADVANCED ANALYTICS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Climate Trend &amp; Heatwave Detection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0312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+20.4°C / yr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B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Annualized linear trend over the sample window (reflects seasonal transition within the observed period, not a multi-year climate signal)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402336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2062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Heatwave Events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22960" y="48920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E4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across locations: ≥3 consecutive days above each location's 95th-percentile temperature</a:t>
            </a:r>
            <a:endParaRPr lang="en-US" sz="1150" dirty="0"/>
          </a:p>
        </p:txBody>
      </p:sp>
      <p:pic>
        <p:nvPicPr>
          <p:cNvPr id="10" name="Image 0" descr="/home/claude/Weather-Trend-Forecasting/outputs/figures/trend_temp_month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2532682"/>
            <a:ext cx="5669280" cy="279847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GEOSPATIAL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Weather Maps</a:t>
            </a:r>
            <a:endParaRPr lang="en-US" sz="3000" dirty="0"/>
          </a:p>
        </p:txBody>
      </p:sp>
      <p:pic>
        <p:nvPicPr>
          <p:cNvPr id="4" name="Image 0" descr="/home/claude/Weather-Trend-Forecasting/outputs/figures/world_temperature_map_sta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91929"/>
            <a:ext cx="6583680" cy="393718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06640" y="201168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3"/>
          <p:cNvSpPr/>
          <p:nvPr/>
        </p:nvSpPr>
        <p:spPr>
          <a:xfrm>
            <a:off x="7909560" y="19385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406640" y="2724912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7909560" y="2651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406640" y="3438144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7909560" y="33649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406640" y="4151376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7909560" y="407822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Speed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406640" y="4864608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1"/>
          <p:cNvSpPr/>
          <p:nvPr/>
        </p:nvSpPr>
        <p:spPr>
          <a:xfrm>
            <a:off x="7909560" y="479145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 (PM2.5)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406640" y="557784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7909560" y="55046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Heatmap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406640" y="6217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interactive Folium maps — outputs/figures/*.html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PRODUCT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F5F8F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37560" y="192024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F5F8FA"/>
          </a:solidFill>
          <a:ln/>
        </p:spPr>
      </p:sp>
      <p:sp>
        <p:nvSpPr>
          <p:cNvPr id="7" name="Text 5"/>
          <p:cNvSpPr/>
          <p:nvPr/>
        </p:nvSpPr>
        <p:spPr>
          <a:xfrm>
            <a:off x="3337560" y="19202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192024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F5F8FA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19202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915400" y="192024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F5F8FA"/>
          </a:solidFill>
          <a:ln/>
        </p:spPr>
      </p:sp>
      <p:sp>
        <p:nvSpPr>
          <p:cNvPr id="11" name="Text 9"/>
          <p:cNvSpPr/>
          <p:nvPr/>
        </p:nvSpPr>
        <p:spPr>
          <a:xfrm>
            <a:off x="8915400" y="19202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Trends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F5F8F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9718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37560" y="297180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F5F8FA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29718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0" y="297180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F5F8FA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29718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915400" y="297180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F5F8FA"/>
          </a:solidFill>
          <a:ln/>
        </p:spPr>
      </p:sp>
      <p:sp>
        <p:nvSpPr>
          <p:cNvPr id="19" name="Text 17"/>
          <p:cNvSpPr/>
          <p:nvPr/>
        </p:nvSpPr>
        <p:spPr>
          <a:xfrm>
            <a:off x="8915400" y="29718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42062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/ date-range filters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Dark-mode toggle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download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prediction input against trained models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dashboard/app.py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488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0.933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4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R²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201168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21488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2.83°C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37560" y="2926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4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RMSE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201168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21488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+ 1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26480" y="2926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4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15400" y="201168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21488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44+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915400" y="2926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4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Charts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114800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Boosting, LightGBM, and XGBoost cluster tightly at the top — model choice can favor operational concerns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temperature statistics dominate feature importance (strong day-to-day autocorrelation)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 underperforms without heavy tuning, showing preprocessing sensitivity across algorithm families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IMPACT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29968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Short-Horizon Forecasting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114800" y="2029968"/>
            <a:ext cx="7223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SARIMA when only historical temperature is available; use gradient-boosted ML when auxiliary weather variables are already collected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538728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Warning Systems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114800" y="3538728"/>
            <a:ext cx="7223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Heatwave-detection logic can plug into agriculture &amp; public-health alerting with minimal added infrastructure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9377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5047488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Selection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114800" y="5047488"/>
            <a:ext cx="7223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top models within ~0.1°C RMSE of each other, prioritize inference latency, interpretability, and maintainability over marginal accuracy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94767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every finding against the real Kaggle dataset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807208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072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2788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LSTM / Temporal Fusion Transformer forecaster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648456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6484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363016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best model behind a FastAPI microservice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489704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4897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447141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Docker packaging &amp; GitHub Actions CI/CD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5330952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3309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" y="531266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exogenous climate indices (ENSO, NAO)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943600" cy="5943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1C7293">
              <a:alpha val="3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Questions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reproducible pipeline — from raw weather data to an interactive forecasting dashboard — with disclosed assumptions and honest metrics.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github.com/&lt;your-username&gt;/Weather-Trend-Forecasting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 Trend Forecasting</dc:title>
  <dc:subject>PptxGenJS Presentation</dc:subject>
  <dc:creator>Weather Trend Forecasting Project</dc:creator>
  <cp:lastModifiedBy>Weather Trend Forecasting Project</cp:lastModifiedBy>
  <cp:revision>1</cp:revision>
  <dcterms:created xsi:type="dcterms:W3CDTF">2026-07-04T09:46:22Z</dcterms:created>
  <dcterms:modified xsi:type="dcterms:W3CDTF">2026-07-04T09:46:22Z</dcterms:modified>
</cp:coreProperties>
</file>